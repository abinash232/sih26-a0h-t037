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7368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silo problem. Emphasise that all five ISRO representative queries are handled by automatic tool routing, and that SAR + pixel-grounded numbers + offline operation are our three defensible differentiators.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diagram top-down. Stress two things: co-registration in preprocessing is what makes optical+SAR fusion honest, and the orchestrator picks tools but never computes numbers - measurements always come from masks.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centre column is the honest risk list; the right column is the mitigation. The single most important line: the LLM never computes a measurement, so numbers cannot be hallucinated.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usually ask who benefits and how you would measure it post-deployment. The bottom band answers exactly that with four concrete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grouped by role: ISRO data and policy, benchmark datasets, the vision-language models we build on, the change/segmentation/SAR methods, the agentic orchestration literature, and the engineering stack plus market 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05-Sep-26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5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45686" y="350255"/>
            <a:ext cx="8743703" cy="501266"/>
          </a:xfrm>
        </p:spPr>
        <p:txBody>
          <a:bodyPr/>
          <a:lstStyle/>
          <a:p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INDIA HACKATHON 2026</a:t>
            </a:r>
            <a:endParaRPr lang="en-IN" sz="4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2275" y="1084771"/>
            <a:ext cx="5924550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      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SIH26167</a:t>
            </a:r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 :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SatQuery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 An Interactive Vision-Language Assistant for Multimodal Remote Sensing Image Analysis through Text Queries</a:t>
            </a:r>
          </a:p>
          <a:p>
            <a:pPr algn="just"/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 :</a:t>
            </a:r>
            <a:r>
              <a:rPr lang="en-IN" sz="2400" dirty="0"/>
              <a:t>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Technology</a:t>
            </a:r>
          </a:p>
          <a:p>
            <a:pPr algn="just"/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 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 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SIH26-A0H-T037</a:t>
            </a:r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Astra Nova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389" y="187739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377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338560" y="639165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82296"/>
            <a:ext cx="1810512" cy="8595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74320" y="212210"/>
            <a:ext cx="10959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IN" sz="2400" b="1" dirty="0" err="1">
                <a:solidFill>
                  <a:srgbClr val="0B2E5C"/>
                </a:solidFill>
                <a:latin typeface="Times New Roman" pitchFamily="34" charset="0"/>
                <a:cs typeface="Times New Roman" pitchFamily="34" charset="-120"/>
              </a:rPr>
              <a:t>SatQuery</a:t>
            </a:r>
            <a:r>
              <a:rPr lang="en-IN" sz="2400" b="1" dirty="0">
                <a:solidFill>
                  <a:srgbClr val="0B2E5C"/>
                </a:solidFill>
                <a:latin typeface="Times New Roman" pitchFamily="34" charset="0"/>
                <a:cs typeface="Times New Roman" pitchFamily="34" charset="-120"/>
              </a:rPr>
              <a:t> AI — Agentic Multimodal Satellite Intelligence Assistant</a:t>
            </a:r>
            <a:endParaRPr lang="en-US" sz="2400" b="1" dirty="0">
              <a:solidFill>
                <a:srgbClr val="0B2E5C"/>
              </a:solidFill>
              <a:latin typeface="Times New Roman" pitchFamily="34" charset="0"/>
              <a:cs typeface="Times New Roman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74320" y="786384"/>
            <a:ext cx="11640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SatQuery AI — An Agentic Vision-Language Assistant for Optical + SAR Remote Sensing</a:t>
            </a:r>
            <a:endParaRPr lang="en-US" sz="125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85A92E7-7A82-F673-1940-B37B311CCE46}"/>
              </a:ext>
            </a:extLst>
          </p:cNvPr>
          <p:cNvGrpSpPr/>
          <p:nvPr/>
        </p:nvGrpSpPr>
        <p:grpSpPr>
          <a:xfrm>
            <a:off x="274320" y="1126609"/>
            <a:ext cx="3776472" cy="1642469"/>
            <a:chOff x="274320" y="1115568"/>
            <a:chExt cx="3776472" cy="1481328"/>
          </a:xfrm>
        </p:grpSpPr>
        <p:sp>
          <p:nvSpPr>
            <p:cNvPr id="10" name="Shape 7"/>
            <p:cNvSpPr/>
            <p:nvPr/>
          </p:nvSpPr>
          <p:spPr>
            <a:xfrm>
              <a:off x="274320" y="1115568"/>
              <a:ext cx="3776472" cy="1481328"/>
            </a:xfrm>
            <a:prstGeom prst="roundRect">
              <a:avLst>
                <a:gd name="adj" fmla="val 2469"/>
              </a:avLst>
            </a:prstGeom>
            <a:solidFill>
              <a:srgbClr val="FCEFE2"/>
            </a:solidFill>
            <a:ln w="11430">
              <a:solidFill>
                <a:srgbClr val="C25708"/>
              </a:solidFill>
              <a:prstDash val="solid"/>
            </a:ln>
          </p:spPr>
        </p:sp>
        <p:sp>
          <p:nvSpPr>
            <p:cNvPr id="11" name="Text 8"/>
            <p:cNvSpPr txBox="1"/>
            <p:nvPr/>
          </p:nvSpPr>
          <p:spPr>
            <a:xfrm>
              <a:off x="356616" y="1161288"/>
              <a:ext cx="36118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C2570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Challenge We're Solving</a:t>
              </a:r>
              <a:endParaRPr lang="en-US" sz="1400" dirty="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393192" y="1399032"/>
              <a:ext cx="3538728" cy="11521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1200" b="1" dirty="0">
                  <a:solidFill>
                    <a:srgbClr val="1B2A3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Silo problem: </a:t>
              </a:r>
              <a:r>
                <a:rPr lang="en-US" sz="1200" dirty="0">
                  <a:solidFill>
                    <a:srgbClr val="1B2A3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RS AI tool does one task only, so an analyst juggles six of them to answer one question.</a:t>
              </a:r>
              <a:endParaRPr lang="en-US" sz="12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200" b="1" dirty="0">
                  <a:solidFill>
                    <a:srgbClr val="1B2A3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Expertise wall: </a:t>
              </a:r>
              <a:r>
                <a:rPr lang="en-US" sz="1200" dirty="0">
                  <a:solidFill>
                    <a:srgbClr val="1B2A3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Users must know sensor, bands, resolution and file format before they can ask anything.</a:t>
              </a:r>
              <a:endParaRPr lang="en-US" sz="12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200" b="1" dirty="0">
                  <a:solidFill>
                    <a:srgbClr val="1B2A3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blindness: </a:t>
              </a:r>
              <a:r>
                <a:rPr lang="en-US" sz="1200" dirty="0">
                  <a:solidFill>
                    <a:srgbClr val="1B2A3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Optical fails during floods and monsoon, exactly when answers matter. SAR sits unused because it needs specialists.</a:t>
              </a:r>
              <a:endParaRPr lang="en-US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57F5EA-681F-3037-D690-83FE70CB5546}"/>
              </a:ext>
            </a:extLst>
          </p:cNvPr>
          <p:cNvGrpSpPr/>
          <p:nvPr/>
        </p:nvGrpSpPr>
        <p:grpSpPr>
          <a:xfrm>
            <a:off x="274320" y="2893375"/>
            <a:ext cx="3776472" cy="3807624"/>
            <a:chOff x="145412" y="3064793"/>
            <a:chExt cx="3776472" cy="3529584"/>
          </a:xfrm>
        </p:grpSpPr>
        <p:sp>
          <p:nvSpPr>
            <p:cNvPr id="13" name="Shape 10"/>
            <p:cNvSpPr/>
            <p:nvPr/>
          </p:nvSpPr>
          <p:spPr>
            <a:xfrm>
              <a:off x="145412" y="3064793"/>
              <a:ext cx="3776472" cy="3529584"/>
            </a:xfrm>
            <a:prstGeom prst="roundRect">
              <a:avLst>
                <a:gd name="adj" fmla="val 1036"/>
              </a:avLst>
            </a:prstGeom>
            <a:solidFill>
              <a:srgbClr val="E9F0F7"/>
            </a:solidFill>
            <a:ln w="11430">
              <a:solidFill>
                <a:srgbClr val="0B2E5C"/>
              </a:solidFill>
              <a:prstDash val="solid"/>
            </a:ln>
          </p:spPr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C51D305-BE6B-7119-58D5-50D03FAE1CDE}"/>
                </a:ext>
              </a:extLst>
            </p:cNvPr>
            <p:cNvGrpSpPr/>
            <p:nvPr/>
          </p:nvGrpSpPr>
          <p:grpSpPr>
            <a:xfrm>
              <a:off x="274320" y="3118104"/>
              <a:ext cx="3611880" cy="3419856"/>
              <a:chOff x="356616" y="2752344"/>
              <a:chExt cx="3611880" cy="3419856"/>
            </a:xfrm>
          </p:grpSpPr>
          <p:sp>
            <p:nvSpPr>
              <p:cNvPr id="14" name="Text 11"/>
              <p:cNvSpPr txBox="1"/>
              <p:nvPr/>
            </p:nvSpPr>
            <p:spPr>
              <a:xfrm>
                <a:off x="356616" y="2752344"/>
                <a:ext cx="3611880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0B2E5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Our Solution — SatQuery AI</a:t>
                </a:r>
                <a:endParaRPr lang="en-US" sz="1400" dirty="0"/>
              </a:p>
            </p:txBody>
          </p:sp>
          <p:sp>
            <p:nvSpPr>
              <p:cNvPr id="15" name="Text 12"/>
              <p:cNvSpPr txBox="1"/>
              <p:nvPr/>
            </p:nvSpPr>
            <p:spPr>
              <a:xfrm>
                <a:off x="393192" y="2990088"/>
                <a:ext cx="3538728" cy="318211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dirty="0">
                    <a:solidFill>
                      <a:srgbClr val="4A5A6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One conversational assistant over a registry of specialist models. Ask in plain English (or Any language), the system plans the pipeline, runs it, and returns a verified answer.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b="1" dirty="0">
                    <a:solidFill>
                      <a:srgbClr val="0B2E5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1. Agentic Orchestrator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dirty="0">
                    <a:solidFill>
                      <a:srgbClr val="1B2A3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LangGraph + Qwen2.5-7B function calling auto-selects, sequences and executes the right tools for the query and input pair.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b="1" dirty="0">
                    <a:solidFill>
                      <a:srgbClr val="0B2E5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2. Specialist Tool Registry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dirty="0">
                    <a:solidFill>
                      <a:srgbClr val="1B2A3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RS-VQA, referring segmentation, bi-temporal change detection and captioning, SAR water and built-up analytics.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b="1" dirty="0">
                    <a:solidFill>
                      <a:srgbClr val="0B2E5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3. Cross-Modal Fusion Engine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dirty="0">
                    <a:solidFill>
                      <a:srgbClr val="1B2A3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Co-registers optical/multispectral with SAR and fuses complementary evidence into a single answer.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b="1" dirty="0">
                    <a:solidFill>
                      <a:srgbClr val="0B2E5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4. Evidence Layer (never bare text)</a:t>
                </a:r>
                <a:endParaRPr lang="en-US" sz="1200" dirty="0"/>
              </a:p>
              <a:p>
                <a:pPr marL="0" indent="0">
                  <a:lnSpc>
                    <a:spcPts val="1300"/>
                  </a:lnSpc>
                  <a:buNone/>
                </a:pPr>
                <a:r>
                  <a:rPr lang="en-US" sz="1200" dirty="0">
                    <a:solidFill>
                      <a:srgbClr val="1B2A3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Every reply ships a mask and GeoJSON overlay, a change map, area in km²/ha, a confidence score and the full agent trace.</a:t>
                </a:r>
                <a:endParaRPr lang="en-US" sz="1200" dirty="0"/>
              </a:p>
            </p:txBody>
          </p:sp>
        </p:grpSp>
      </p:grpSp>
      <p:sp>
        <p:nvSpPr>
          <p:cNvPr id="16" name="Shape 13"/>
          <p:cNvSpPr/>
          <p:nvPr/>
        </p:nvSpPr>
        <p:spPr>
          <a:xfrm>
            <a:off x="4206240" y="1115568"/>
            <a:ext cx="3776472" cy="5568696"/>
          </a:xfrm>
          <a:prstGeom prst="roundRect">
            <a:avLst>
              <a:gd name="adj" fmla="val 988"/>
            </a:avLst>
          </a:prstGeom>
          <a:solidFill>
            <a:srgbClr val="F1F4F7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88536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Addresses the Problem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473737"/>
            <a:ext cx="3538728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i="1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mandated query maps to an automatic tool chain: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“Describe the land-cover and major objects.”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captioning + LULC segmentation + object detector, returning a narrative with a class-wise area table.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“Highlight the water body referred to.”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referring-expression segmentation, returning a mask on the map plus extent in hectares.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changed between these two dates, and where?”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bi-temporal change VQA plus a spatial change map (the mandatory capability) and change captioning.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optical and SAR together for built-up and water.”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co-registration, then SAR backscatter thresholding fused with optical indices into a two-class map.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“Has built-up area increased, decreased or stayed same?”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class-wise change quantification giving direction, Δ km² and percentage, computed from pixels.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38160" y="1115567"/>
            <a:ext cx="3776472" cy="4040095"/>
          </a:xfrm>
          <a:prstGeom prst="roundRect">
            <a:avLst>
              <a:gd name="adj" fmla="val 988"/>
            </a:avLst>
          </a:prstGeom>
          <a:solidFill>
            <a:srgbClr val="E6F3EC"/>
          </a:solidFill>
          <a:ln w="11430">
            <a:solidFill>
              <a:srgbClr val="106B4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0456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1399032"/>
            <a:ext cx="361188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SAR is first-class, not an afterthought.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every RS vision-language model (GeoChat, RS-LLaVA, EarthDial) is optical-only. We add a dedicated SAR chain: speckle filtering, Otsu backscatter water extraction, texture-based built-up, polarimetric decomposition. Answers survive cloud and night.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Grounded, not generative.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invents a number. Areas come from mask pixel-count × ground sample distance, coordinates from the raster CRS. Below a confidence threshold the system abstains.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Glass-box agent.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chain is streamed live and exportable, so an analyst can audit which model produced which claim.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Runs fully air-gapped.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weights local; zero cloud API, zero recurring cost, deployable inside ISRO/NRSC networks.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Indian-data native.</a:t>
            </a:r>
            <a:endParaRPr lang="en-US" sz="12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Bhoonidhi — NISAR S-SAR, EOS-04 C-SAR, Resourcesat LISS-III/AWiFS — plus Bhuvan thematic layers, not just Sentinel.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38160" y="5274534"/>
            <a:ext cx="3776472" cy="1426465"/>
          </a:xfrm>
          <a:prstGeom prst="roundRect">
            <a:avLst>
              <a:gd name="adj" fmla="val 2797"/>
            </a:avLst>
          </a:prstGeom>
          <a:solidFill>
            <a:srgbClr val="EFEAF7"/>
          </a:solidFill>
          <a:ln w="11430">
            <a:solidFill>
              <a:srgbClr val="5B3E8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0456" y="543912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Problem Statement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57032" y="5676871"/>
            <a:ext cx="353872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querying </a:t>
            </a: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Hindi and regional languages for district-level users · </a:t>
            </a:r>
            <a:r>
              <a:rPr lang="en-US" sz="11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alerts </a:t>
            </a: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as “tell me when built-up grows in this ward” · </a:t>
            </a:r>
            <a:r>
              <a:rPr lang="en-US" sz="11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district reports </a:t>
            </a: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query · </a:t>
            </a:r>
            <a:r>
              <a:rPr lang="en-US" sz="11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exposure </a:t>
            </a: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other ISRO systems can call the same specialist registry.</a:t>
            </a:r>
            <a:endParaRPr lang="en-US" sz="11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91A4A64-0C38-B83D-E39D-138723947C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81174"/>
            <a:ext cx="861779" cy="861779"/>
          </a:xfrm>
          <a:prstGeom prst="flowChartConnector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599EA0-E0F3-CB52-49D7-0270FC7564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813" y="4357644"/>
            <a:ext cx="3251325" cy="2167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338560" y="646480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463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B2E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786384"/>
            <a:ext cx="11640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from satellite archive to a grounded answer on the map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" y="1152144"/>
            <a:ext cx="11640312" cy="60350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1430">
            <a:solidFill>
              <a:srgbClr val="0E6A8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118872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148840" y="1188720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AF4F8"/>
          </a:solidFill>
          <a:ln w="10160">
            <a:solidFill>
              <a:srgbClr val="0E6A8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03704" y="1229868"/>
            <a:ext cx="3023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Bhoonidhi / NRSC (ISRO)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2203704" y="140817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NISAR S-SAR · EOS-04 C-SAR · Resourcesat LISS-III/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AWiFS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STAC catalogue</a:t>
            </a:r>
            <a:endParaRPr lang="en-US" sz="1000" b="1" dirty="0"/>
          </a:p>
        </p:txBody>
      </p:sp>
      <p:sp>
        <p:nvSpPr>
          <p:cNvPr id="15" name="Shape 12"/>
          <p:cNvSpPr/>
          <p:nvPr/>
        </p:nvSpPr>
        <p:spPr>
          <a:xfrm>
            <a:off x="5373624" y="1188720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AF4F8"/>
          </a:solidFill>
          <a:ln w="10160">
            <a:solidFill>
              <a:srgbClr val="0E6A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28488" y="1229868"/>
            <a:ext cx="3023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+ Bhuvan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428488" y="140817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 &amp; Sentinel-2 MSI via STAC · Bhuvan WMS thematic layers</a:t>
            </a:r>
            <a:endParaRPr lang="en-US" sz="1000" b="1" dirty="0"/>
          </a:p>
        </p:txBody>
      </p:sp>
      <p:sp>
        <p:nvSpPr>
          <p:cNvPr id="18" name="Shape 15"/>
          <p:cNvSpPr/>
          <p:nvPr/>
        </p:nvSpPr>
        <p:spPr>
          <a:xfrm>
            <a:off x="8598408" y="1188720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AF4F8"/>
          </a:solidFill>
          <a:ln w="10160">
            <a:solidFill>
              <a:srgbClr val="0E6A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53272" y="1229868"/>
            <a:ext cx="3023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653272" y="140817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GeoTIFF / COG / SAFE / HDF5 · single scene, bi-temporal pair or optical+SAR pair</a:t>
            </a:r>
            <a:endParaRPr lang="en-US" sz="1000" b="1" dirty="0"/>
          </a:p>
        </p:txBody>
      </p:sp>
      <p:sp>
        <p:nvSpPr>
          <p:cNvPr id="21" name="Shape 18"/>
          <p:cNvSpPr/>
          <p:nvPr/>
        </p:nvSpPr>
        <p:spPr>
          <a:xfrm rot="10800000">
            <a:off x="5961888" y="1773936"/>
            <a:ext cx="274320" cy="146304"/>
          </a:xfrm>
          <a:prstGeom prst="triangle">
            <a:avLst/>
          </a:prstGeom>
          <a:solidFill>
            <a:srgbClr val="9BB0C4"/>
          </a:solidFill>
          <a:ln/>
        </p:spPr>
      </p:sp>
      <p:sp>
        <p:nvSpPr>
          <p:cNvPr id="22" name="Shape 19"/>
          <p:cNvSpPr/>
          <p:nvPr/>
        </p:nvSpPr>
        <p:spPr>
          <a:xfrm>
            <a:off x="274320" y="1947672"/>
            <a:ext cx="11640312" cy="60350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1430">
            <a:solidFill>
              <a:srgbClr val="5B3E8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5760" y="198424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148840" y="1984248"/>
            <a:ext cx="2336292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03704" y="2025396"/>
            <a:ext cx="2226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Radiometric &amp; calibration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2203704" y="2203704"/>
            <a:ext cx="22265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TOA/BOA correction · SAR sigma-nought</a:t>
            </a:r>
            <a:endParaRPr lang="en-US" sz="1000" b="1" dirty="0"/>
          </a:p>
        </p:txBody>
      </p:sp>
      <p:sp>
        <p:nvSpPr>
          <p:cNvPr id="27" name="Shape 24"/>
          <p:cNvSpPr/>
          <p:nvPr/>
        </p:nvSpPr>
        <p:spPr>
          <a:xfrm>
            <a:off x="4567428" y="1984248"/>
            <a:ext cx="2336292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22292" y="2025396"/>
            <a:ext cx="2226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&amp; geometry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622292" y="2203704"/>
            <a:ext cx="22265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Refined-Lee filter · orthorectification</a:t>
            </a:r>
            <a:endParaRPr lang="en-US" sz="1000" b="1" dirty="0"/>
          </a:p>
        </p:txBody>
      </p:sp>
      <p:sp>
        <p:nvSpPr>
          <p:cNvPr id="30" name="Shape 27"/>
          <p:cNvSpPr/>
          <p:nvPr/>
        </p:nvSpPr>
        <p:spPr>
          <a:xfrm>
            <a:off x="6986016" y="1984248"/>
            <a:ext cx="2336292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2025396"/>
            <a:ext cx="2226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 ↔ SAR co-registration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2203704"/>
            <a:ext cx="22265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tie-points + RANSAC · common CRS grid</a:t>
            </a:r>
            <a:endParaRPr lang="en-US" sz="1000" b="1" dirty="0"/>
          </a:p>
        </p:txBody>
      </p:sp>
      <p:sp>
        <p:nvSpPr>
          <p:cNvPr id="33" name="Shape 30"/>
          <p:cNvSpPr/>
          <p:nvPr/>
        </p:nvSpPr>
        <p:spPr>
          <a:xfrm>
            <a:off x="9404604" y="1984248"/>
            <a:ext cx="2336292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459468" y="2025396"/>
            <a:ext cx="22265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Tiling &amp; COG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459468" y="2203704"/>
            <a:ext cx="22265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 chips · overview pyramids</a:t>
            </a:r>
            <a:endParaRPr lang="en-US" sz="1000" b="1" dirty="0"/>
          </a:p>
        </p:txBody>
      </p:sp>
      <p:sp>
        <p:nvSpPr>
          <p:cNvPr id="36" name="Shape 33"/>
          <p:cNvSpPr/>
          <p:nvPr/>
        </p:nvSpPr>
        <p:spPr>
          <a:xfrm rot="10800000">
            <a:off x="5961888" y="2569464"/>
            <a:ext cx="274320" cy="146304"/>
          </a:xfrm>
          <a:prstGeom prst="triangle">
            <a:avLst/>
          </a:prstGeom>
          <a:solidFill>
            <a:srgbClr val="9BB0C4"/>
          </a:solidFill>
          <a:ln/>
        </p:spPr>
      </p:sp>
      <p:sp>
        <p:nvSpPr>
          <p:cNvPr id="37" name="Shape 34"/>
          <p:cNvSpPr/>
          <p:nvPr/>
        </p:nvSpPr>
        <p:spPr>
          <a:xfrm>
            <a:off x="274320" y="2743200"/>
            <a:ext cx="11640312" cy="676656"/>
          </a:xfrm>
          <a:prstGeom prst="roundRect">
            <a:avLst>
              <a:gd name="adj" fmla="val 5405"/>
            </a:avLst>
          </a:prstGeom>
          <a:solidFill>
            <a:srgbClr val="FCEFE2"/>
          </a:solidFill>
          <a:ln w="17780">
            <a:solidFill>
              <a:srgbClr val="C2570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65760" y="277977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ORCHESTRATOR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2148840" y="2798064"/>
            <a:ext cx="967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→ </a:t>
            </a: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classification (RemoteCLIP embeddings) → slot filling (scene / date-pair / modality / region of interest) → tool-DAG planning → execution → verification → answer synthesis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2148840" y="3108960"/>
            <a:ext cx="967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Router: Qwen2.5-7B-Instruct (function calling, runs local via Ollama/vLLM) · Graph: LangGraph · the LLM chooses and sequences tools — it never computes a measurement itself</a:t>
            </a:r>
            <a:endParaRPr lang="en-US" sz="1050" b="1" dirty="0"/>
          </a:p>
        </p:txBody>
      </p:sp>
      <p:sp>
        <p:nvSpPr>
          <p:cNvPr id="41" name="Shape 38"/>
          <p:cNvSpPr/>
          <p:nvPr/>
        </p:nvSpPr>
        <p:spPr>
          <a:xfrm rot="10800000">
            <a:off x="5961888" y="3474720"/>
            <a:ext cx="274320" cy="146304"/>
          </a:xfrm>
          <a:prstGeom prst="triangle">
            <a:avLst/>
          </a:prstGeom>
          <a:solidFill>
            <a:srgbClr val="9BB0C4"/>
          </a:solidFill>
          <a:ln/>
        </p:spPr>
      </p:sp>
      <p:sp>
        <p:nvSpPr>
          <p:cNvPr id="42" name="Shape 39"/>
          <p:cNvSpPr/>
          <p:nvPr/>
        </p:nvSpPr>
        <p:spPr>
          <a:xfrm>
            <a:off x="274320" y="3657600"/>
            <a:ext cx="11640312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1430">
            <a:solidFill>
              <a:srgbClr val="106B4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65760" y="3694176"/>
            <a:ext cx="1691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2148840" y="3694176"/>
            <a:ext cx="1852574" cy="1115568"/>
          </a:xfrm>
          <a:prstGeom prst="roundRect">
            <a:avLst>
              <a:gd name="adj" fmla="val 4098"/>
            </a:avLst>
          </a:prstGeom>
          <a:solidFill>
            <a:srgbClr val="E6F3EC"/>
          </a:solidFill>
          <a:ln w="10160">
            <a:solidFill>
              <a:srgbClr val="106B4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203704" y="3735324"/>
            <a:ext cx="17428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RS-VQA &amp; Captioning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2203704" y="3913632"/>
            <a:ext cx="174284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GeoChat-7B (LoRA)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description,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land-cover narrative,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counting</a:t>
            </a:r>
            <a:endParaRPr lang="en-US" sz="1000" b="1" dirty="0"/>
          </a:p>
        </p:txBody>
      </p:sp>
      <p:sp>
        <p:nvSpPr>
          <p:cNvPr id="47" name="Shape 44"/>
          <p:cNvSpPr/>
          <p:nvPr/>
        </p:nvSpPr>
        <p:spPr>
          <a:xfrm>
            <a:off x="4083710" y="3694176"/>
            <a:ext cx="1852574" cy="1115568"/>
          </a:xfrm>
          <a:prstGeom prst="roundRect">
            <a:avLst>
              <a:gd name="adj" fmla="val 4098"/>
            </a:avLst>
          </a:prstGeom>
          <a:solidFill>
            <a:srgbClr val="E6F3EC"/>
          </a:solidFill>
          <a:ln w="10160">
            <a:solidFill>
              <a:srgbClr val="106B4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38574" y="3735324"/>
            <a:ext cx="17428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Segmentation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4138574" y="3913632"/>
            <a:ext cx="174284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RMSIN · GroundingDINO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SAM2 fallback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mask + GeoJSON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area (km²/ha)</a:t>
            </a:r>
            <a:endParaRPr lang="en-US" sz="1000" b="1" dirty="0"/>
          </a:p>
        </p:txBody>
      </p:sp>
      <p:sp>
        <p:nvSpPr>
          <p:cNvPr id="50" name="Shape 47"/>
          <p:cNvSpPr/>
          <p:nvPr/>
        </p:nvSpPr>
        <p:spPr>
          <a:xfrm>
            <a:off x="6018581" y="3694176"/>
            <a:ext cx="1852574" cy="1115568"/>
          </a:xfrm>
          <a:prstGeom prst="roundRect">
            <a:avLst>
              <a:gd name="adj" fmla="val 4098"/>
            </a:avLst>
          </a:prstGeom>
          <a:solidFill>
            <a:srgbClr val="E6F3EC"/>
          </a:solidFill>
          <a:ln w="10160">
            <a:solidFill>
              <a:srgbClr val="106B4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073445" y="3735324"/>
            <a:ext cx="17428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6073445" y="3913632"/>
            <a:ext cx="174284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ChangeFormer · AnyChange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(zero-shot, SAM-based)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spatial change map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Δ area &amp; direction</a:t>
            </a:r>
            <a:endParaRPr lang="en-US" sz="1000" b="1" dirty="0"/>
          </a:p>
        </p:txBody>
      </p:sp>
      <p:sp>
        <p:nvSpPr>
          <p:cNvPr id="53" name="Shape 50"/>
          <p:cNvSpPr/>
          <p:nvPr/>
        </p:nvSpPr>
        <p:spPr>
          <a:xfrm>
            <a:off x="7953451" y="3694176"/>
            <a:ext cx="1852574" cy="1115568"/>
          </a:xfrm>
          <a:prstGeom prst="roundRect">
            <a:avLst>
              <a:gd name="adj" fmla="val 4098"/>
            </a:avLst>
          </a:prstGeom>
          <a:solidFill>
            <a:srgbClr val="E6F3EC"/>
          </a:solidFill>
          <a:ln w="10160">
            <a:solidFill>
              <a:srgbClr val="106B4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08315" y="3735324"/>
            <a:ext cx="17428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VQA &amp; Captioning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008315" y="3913632"/>
            <a:ext cx="174284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CDVQA-tuned VLM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Chg2Cap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“what changed,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and how much”</a:t>
            </a:r>
            <a:endParaRPr lang="en-US" sz="1000" b="1" dirty="0"/>
          </a:p>
        </p:txBody>
      </p:sp>
      <p:sp>
        <p:nvSpPr>
          <p:cNvPr id="56" name="Shape 53"/>
          <p:cNvSpPr/>
          <p:nvPr/>
        </p:nvSpPr>
        <p:spPr>
          <a:xfrm>
            <a:off x="9888322" y="3694176"/>
            <a:ext cx="1852574" cy="1115568"/>
          </a:xfrm>
          <a:prstGeom prst="roundRect">
            <a:avLst>
              <a:gd name="adj" fmla="val 4098"/>
            </a:avLst>
          </a:prstGeom>
          <a:solidFill>
            <a:srgbClr val="E6F3EC"/>
          </a:solidFill>
          <a:ln w="10160">
            <a:solidFill>
              <a:srgbClr val="106B4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943186" y="3735324"/>
            <a:ext cx="17428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Analytics &amp; Fusion</a:t>
            </a:r>
            <a:endParaRPr lang="en-US" sz="1050" dirty="0"/>
          </a:p>
        </p:txBody>
      </p:sp>
      <p:sp>
        <p:nvSpPr>
          <p:cNvPr id="58" name="Text 55"/>
          <p:cNvSpPr txBox="1"/>
          <p:nvPr/>
        </p:nvSpPr>
        <p:spPr>
          <a:xfrm>
            <a:off x="9943186" y="3913632"/>
            <a:ext cx="174284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 backscatter water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GLCM built-up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m-δ decomposition</a:t>
            </a:r>
            <a:endParaRPr lang="en-US" sz="1000" b="1" dirty="0"/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EarthMind-style fusion</a:t>
            </a:r>
            <a:endParaRPr lang="en-US" sz="1000" b="1" dirty="0"/>
          </a:p>
        </p:txBody>
      </p:sp>
      <p:sp>
        <p:nvSpPr>
          <p:cNvPr id="59" name="Shape 56"/>
          <p:cNvSpPr/>
          <p:nvPr/>
        </p:nvSpPr>
        <p:spPr>
          <a:xfrm rot="10800000">
            <a:off x="5961888" y="4901184"/>
            <a:ext cx="274320" cy="146304"/>
          </a:xfrm>
          <a:prstGeom prst="triangle">
            <a:avLst/>
          </a:prstGeom>
          <a:solidFill>
            <a:srgbClr val="9BB0C4"/>
          </a:solidFill>
          <a:ln/>
        </p:spPr>
      </p:sp>
      <p:sp>
        <p:nvSpPr>
          <p:cNvPr id="60" name="Shape 57"/>
          <p:cNvSpPr/>
          <p:nvPr/>
        </p:nvSpPr>
        <p:spPr>
          <a:xfrm>
            <a:off x="274320" y="5084064"/>
            <a:ext cx="11640312" cy="60350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1430">
            <a:solidFill>
              <a:srgbClr val="0B2E5C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365760" y="512064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DELIVERY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2148840" y="5120640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9F0F7"/>
          </a:solidFill>
          <a:ln w="10160">
            <a:solidFill>
              <a:srgbClr val="0B2E5C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203704" y="5161788"/>
            <a:ext cx="3023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answer object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2203704" y="534009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answer + mask/GeoJSON + change map + area in km² + confidence + agent trace</a:t>
            </a:r>
            <a:endParaRPr lang="en-US" sz="1000" b="1" dirty="0"/>
          </a:p>
        </p:txBody>
      </p:sp>
      <p:sp>
        <p:nvSpPr>
          <p:cNvPr id="65" name="Shape 62"/>
          <p:cNvSpPr/>
          <p:nvPr/>
        </p:nvSpPr>
        <p:spPr>
          <a:xfrm>
            <a:off x="5373624" y="5120640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9F0F7"/>
          </a:solidFill>
          <a:ln w="10160">
            <a:solidFill>
              <a:srgbClr val="0B2E5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428488" y="5161788"/>
            <a:ext cx="3023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28488" y="534009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MapLibre GL · FastAPI + Celery/Redis · TiTiler COG tiles · PostGIS · WebSocket streaming</a:t>
            </a:r>
            <a:endParaRPr lang="en-US" sz="1000" b="1" dirty="0"/>
          </a:p>
        </p:txBody>
      </p:sp>
      <p:sp>
        <p:nvSpPr>
          <p:cNvPr id="68" name="Shape 65"/>
          <p:cNvSpPr/>
          <p:nvPr/>
        </p:nvSpPr>
        <p:spPr>
          <a:xfrm>
            <a:off x="8598408" y="5120640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9F0F7"/>
          </a:solidFill>
          <a:ln w="10160">
            <a:solidFill>
              <a:srgbClr val="0B2E5C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653272" y="5161788"/>
            <a:ext cx="3023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653272" y="534009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→ SAR fallback · missing modality → single-sensor chain · model fail → classical method · offline mode</a:t>
            </a:r>
            <a:endParaRPr lang="en-US" sz="1000" b="1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044632C9-DC2F-F6C1-2F41-96A38C384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81174"/>
            <a:ext cx="861779" cy="861779"/>
          </a:xfrm>
          <a:prstGeom prst="flowChartConnector">
            <a:avLst/>
          </a:prstGeom>
        </p:spPr>
      </p:pic>
      <p:pic>
        <p:nvPicPr>
          <p:cNvPr id="78" name="Image 0" descr="preencoded.png">
            <a:extLst>
              <a:ext uri="{FF2B5EF4-FFF2-40B4-BE49-F238E27FC236}">
                <a16:creationId xmlns:a16="http://schemas.microsoft.com/office/drawing/2014/main" id="{1CB20080-B5B3-3337-08BF-C799E6F90F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82296"/>
            <a:ext cx="1810512" cy="859536"/>
          </a:xfrm>
          <a:prstGeom prst="rect">
            <a:avLst/>
          </a:prstGeom>
        </p:spPr>
      </p:pic>
      <p:sp>
        <p:nvSpPr>
          <p:cNvPr id="77" name="Shape 57">
            <a:extLst>
              <a:ext uri="{FF2B5EF4-FFF2-40B4-BE49-F238E27FC236}">
                <a16:creationId xmlns:a16="http://schemas.microsoft.com/office/drawing/2014/main" id="{0D6B343C-770B-B999-2F34-46A91B7045EF}"/>
              </a:ext>
            </a:extLst>
          </p:cNvPr>
          <p:cNvSpPr/>
          <p:nvPr/>
        </p:nvSpPr>
        <p:spPr>
          <a:xfrm>
            <a:off x="281135" y="5925312"/>
            <a:ext cx="11640312" cy="60350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1430">
            <a:solidFill>
              <a:srgbClr val="7030A0"/>
            </a:solidFill>
            <a:prstDash val="solid"/>
          </a:ln>
        </p:spPr>
      </p:sp>
      <p:sp>
        <p:nvSpPr>
          <p:cNvPr id="80" name="Text 58">
            <a:extLst>
              <a:ext uri="{FF2B5EF4-FFF2-40B4-BE49-F238E27FC236}">
                <a16:creationId xmlns:a16="http://schemas.microsoft.com/office/drawing/2014/main" id="{763F7133-9F3A-F3DE-A591-A79BB0E6AE6F}"/>
              </a:ext>
            </a:extLst>
          </p:cNvPr>
          <p:cNvSpPr txBox="1"/>
          <p:nvPr/>
        </p:nvSpPr>
        <p:spPr>
          <a:xfrm>
            <a:off x="372575" y="596188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>
              <a:solidFill>
                <a:srgbClr val="7030A0"/>
              </a:solidFill>
            </a:endParaRPr>
          </a:p>
        </p:txBody>
      </p:sp>
      <p:sp>
        <p:nvSpPr>
          <p:cNvPr id="82" name="Shape 59">
            <a:extLst>
              <a:ext uri="{FF2B5EF4-FFF2-40B4-BE49-F238E27FC236}">
                <a16:creationId xmlns:a16="http://schemas.microsoft.com/office/drawing/2014/main" id="{C0D38CC8-0994-53F8-396A-9E8E1CC46B73}"/>
              </a:ext>
            </a:extLst>
          </p:cNvPr>
          <p:cNvSpPr/>
          <p:nvPr/>
        </p:nvSpPr>
        <p:spPr>
          <a:xfrm>
            <a:off x="2155655" y="5961888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86" name="Text 61">
            <a:extLst>
              <a:ext uri="{FF2B5EF4-FFF2-40B4-BE49-F238E27FC236}">
                <a16:creationId xmlns:a16="http://schemas.microsoft.com/office/drawing/2014/main" id="{A972AC68-9C86-393A-0863-055C94612DB9}"/>
              </a:ext>
            </a:extLst>
          </p:cNvPr>
          <p:cNvSpPr txBox="1"/>
          <p:nvPr/>
        </p:nvSpPr>
        <p:spPr>
          <a:xfrm>
            <a:off x="2210519" y="609447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Hugging Face</a:t>
            </a:r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Qwen2.5-7B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GeoChat</a:t>
            </a:r>
            <a:endParaRPr lang="en-US" sz="1000" b="1" dirty="0"/>
          </a:p>
        </p:txBody>
      </p:sp>
      <p:sp>
        <p:nvSpPr>
          <p:cNvPr id="88" name="Shape 62">
            <a:extLst>
              <a:ext uri="{FF2B5EF4-FFF2-40B4-BE49-F238E27FC236}">
                <a16:creationId xmlns:a16="http://schemas.microsoft.com/office/drawing/2014/main" id="{0F2198CA-7303-1501-E88F-3556E0960D16}"/>
              </a:ext>
            </a:extLst>
          </p:cNvPr>
          <p:cNvSpPr/>
          <p:nvPr/>
        </p:nvSpPr>
        <p:spPr>
          <a:xfrm>
            <a:off x="5380439" y="5961888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92" name="Text 64">
            <a:extLst>
              <a:ext uri="{FF2B5EF4-FFF2-40B4-BE49-F238E27FC236}">
                <a16:creationId xmlns:a16="http://schemas.microsoft.com/office/drawing/2014/main" id="{6FB74DF8-9718-F6D7-17C8-D3BB9A021D7B}"/>
              </a:ext>
            </a:extLst>
          </p:cNvPr>
          <p:cNvSpPr txBox="1"/>
          <p:nvPr/>
        </p:nvSpPr>
        <p:spPr>
          <a:xfrm>
            <a:off x="5435303" y="6094562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SAM2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ChangeFormer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Prithvi-EO-2.0</a:t>
            </a:r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GDAL/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rasterio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SNAP &amp;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pyroSAR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pystac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client</a:t>
            </a:r>
            <a:endParaRPr lang="en-US" sz="1000" b="1" dirty="0"/>
          </a:p>
        </p:txBody>
      </p:sp>
      <p:sp>
        <p:nvSpPr>
          <p:cNvPr id="94" name="Shape 65">
            <a:extLst>
              <a:ext uri="{FF2B5EF4-FFF2-40B4-BE49-F238E27FC236}">
                <a16:creationId xmlns:a16="http://schemas.microsoft.com/office/drawing/2014/main" id="{9EF35004-2774-3D6D-BE5E-690BD6D9B444}"/>
              </a:ext>
            </a:extLst>
          </p:cNvPr>
          <p:cNvSpPr/>
          <p:nvPr/>
        </p:nvSpPr>
        <p:spPr>
          <a:xfrm>
            <a:off x="8605223" y="5961888"/>
            <a:ext cx="3133344" cy="530352"/>
          </a:xfrm>
          <a:prstGeom prst="roundRect">
            <a:avLst>
              <a:gd name="adj" fmla="val 8621"/>
            </a:avLst>
          </a:prstGeom>
          <a:solidFill>
            <a:srgbClr val="EFEAF7"/>
          </a:solidFill>
          <a:ln w="10160">
            <a:solidFill>
              <a:srgbClr val="5B3E8E"/>
            </a:solidFill>
            <a:prstDash val="solid"/>
          </a:ln>
        </p:spPr>
      </p:sp>
      <p:sp>
        <p:nvSpPr>
          <p:cNvPr id="98" name="Text 67">
            <a:extLst>
              <a:ext uri="{FF2B5EF4-FFF2-40B4-BE49-F238E27FC236}">
                <a16:creationId xmlns:a16="http://schemas.microsoft.com/office/drawing/2014/main" id="{0C993C37-5673-13E0-018E-86CB87C43846}"/>
              </a:ext>
            </a:extLst>
          </p:cNvPr>
          <p:cNvSpPr txBox="1"/>
          <p:nvPr/>
        </p:nvSpPr>
        <p:spPr>
          <a:xfrm>
            <a:off x="8634553" y="6083866"/>
            <a:ext cx="30236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Celery+Redis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</a:t>
            </a:r>
            <a:endParaRPr lang="en-US" sz="1000" b="1" dirty="0">
              <a:solidFill>
                <a:srgbClr val="1B2A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ts val="950"/>
              </a:lnSpc>
              <a:buNone/>
            </a:pP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TiTiler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React/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</a:t>
            </a:r>
            <a:r>
              <a:rPr lang="en-US" sz="10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 | Docker | </a:t>
            </a:r>
            <a:r>
              <a:rPr lang="en-US" sz="1000" b="1" dirty="0" err="1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000" b="1" dirty="0"/>
          </a:p>
        </p:txBody>
      </p:sp>
      <p:sp>
        <p:nvSpPr>
          <p:cNvPr id="100" name="Shape 56">
            <a:extLst>
              <a:ext uri="{FF2B5EF4-FFF2-40B4-BE49-F238E27FC236}">
                <a16:creationId xmlns:a16="http://schemas.microsoft.com/office/drawing/2014/main" id="{AAF09B7C-3F15-30CD-D8F2-9152B51DF5B3}"/>
              </a:ext>
            </a:extLst>
          </p:cNvPr>
          <p:cNvSpPr/>
          <p:nvPr/>
        </p:nvSpPr>
        <p:spPr>
          <a:xfrm rot="10800000">
            <a:off x="5957316" y="5725697"/>
            <a:ext cx="274320" cy="146304"/>
          </a:xfrm>
          <a:prstGeom prst="triangle">
            <a:avLst/>
          </a:prstGeom>
          <a:solidFill>
            <a:srgbClr val="9BB0C4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/>
          <p:cNvSpPr txBox="1"/>
          <p:nvPr/>
        </p:nvSpPr>
        <p:spPr>
          <a:xfrm>
            <a:off x="1600200" y="1463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B2E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74320" y="1133856"/>
            <a:ext cx="3776472" cy="2395728"/>
          </a:xfrm>
          <a:prstGeom prst="roundRect">
            <a:avLst>
              <a:gd name="adj" fmla="val 1527"/>
            </a:avLst>
          </a:prstGeom>
          <a:solidFill>
            <a:srgbClr val="E9F0F7"/>
          </a:solidFill>
          <a:ln w="11430">
            <a:solidFill>
              <a:srgbClr val="0B2E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" y="11795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" y="1417320"/>
            <a:ext cx="353872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trained from scratch. </a:t>
            </a: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specialist is an open pretrained checkpoint — GeoChat-7B, RMSIN, ChangeFormer, SAM2, Prithvi-EO-2.0 (CC-BY-4.0). Only LoRA adaptation is needed.</a:t>
            </a:r>
            <a:endParaRPr lang="en-US" sz="12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Single-GPU build. </a:t>
            </a: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7B router + specialist inference fits a 16–24 GB GPU; no cluster required for the prototype.</a:t>
            </a:r>
            <a:endParaRPr lang="en-US" sz="12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already exists and is free. </a:t>
            </a: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Bhoonidhi open tier + Copernicus STAC for imagery; RSVQA, CDVQA, RRSIS-D, LEVIR-CD/CC and SEN12MS for training and evaluation.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74320" y="3639312"/>
            <a:ext cx="3776472" cy="1298448"/>
          </a:xfrm>
          <a:prstGeom prst="roundRect">
            <a:avLst>
              <a:gd name="adj" fmla="val 2817"/>
            </a:avLst>
          </a:prstGeom>
          <a:solidFill>
            <a:srgbClr val="E6F3EC"/>
          </a:solidFill>
          <a:ln w="11430">
            <a:solidFill>
              <a:srgbClr val="106B4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616" y="368503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Viability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" y="3922776"/>
            <a:ext cx="35387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open-source stack — no per-query LLM API cost and no vendor lock-in. Marginal cost per query on an on-prem node is effectively electricity only. One GPU node serves a departmental pilot; scaling is horizontal via Celery workers and cached COG tiles.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74320" y="5047488"/>
            <a:ext cx="3776472" cy="1362456"/>
          </a:xfrm>
          <a:prstGeom prst="roundRect">
            <a:avLst>
              <a:gd name="adj" fmla="val 2685"/>
            </a:avLst>
          </a:prstGeom>
          <a:solidFill>
            <a:srgbClr val="F1F4F7"/>
          </a:solidFill>
          <a:ln w="11430">
            <a:solidFill>
              <a:srgbClr val="5B3E8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6616" y="5093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&amp; Legal Viability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93192" y="5330952"/>
            <a:ext cx="353872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Air-gapped deployment keeps sensitive imagery inside ISRO/NRSC networks — no data leaves the premises. Aligned with the Indian Space Policy 2023 and the National Geospatial Policy 2022. Model licences are checked per component (Apache-2.0 router, CC-BY-4.0 encoder) so the stack stays deployable.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06240" y="1133856"/>
            <a:ext cx="3776472" cy="5276088"/>
          </a:xfrm>
          <a:prstGeom prst="roundRect">
            <a:avLst>
              <a:gd name="adj" fmla="val 969"/>
            </a:avLst>
          </a:prstGeom>
          <a:solidFill>
            <a:srgbClr val="FCEFE2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88536" y="11795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 &amp; Risks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325112" y="1472184"/>
            <a:ext cx="3538728" cy="486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Optical–SAR misregistration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geometry and terrain distortion make pixel-level fusion drift, corrupting every downstream mask.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Vision-language hallucination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VLMs confidently invent object counts and areas — unacceptable for an operational space product.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Domain gap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are trained largely on US/European imagery; Indian landscapes, field sizes and settlement patterns differ.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Cloud cover &amp; missing inputs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optical scenes are unusable, and a required modality or date may simply be absent.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Latency on full scenes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multi-GB scene through a chain of deep models is far too slow for interactive questioning.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Integration risk (36 hours)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moving parts; most hackathon failures happen at the seams, not inside a single model.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“Is this real space data or a demo set?”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 discount systems demonstrated on curated toy imagery rather than operational products.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138160" y="1133856"/>
            <a:ext cx="3776472" cy="5276088"/>
          </a:xfrm>
          <a:prstGeom prst="roundRect">
            <a:avLst>
              <a:gd name="adj" fmla="val 969"/>
            </a:avLst>
          </a:prstGeom>
          <a:solidFill>
            <a:srgbClr val="E6F3EC"/>
          </a:solidFill>
          <a:ln w="11430">
            <a:solidFill>
              <a:srgbClr val="106B4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0456" y="11795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for Overcoming Them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57032" y="1472184"/>
            <a:ext cx="3538728" cy="486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terrain-corrected ARD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Bhoonidhi EOS-04/NISAR products are already ortho-normalised; we refine with tie-point + RANSAC matching and report registration RMSE with every fused answer.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come from pixels, never the LLM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mask pixel count × ground sample distance; coordinates from the raster CRS. Below a confidence threshold the agent abstains and says so.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on Indian scenes + honest evaluation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 Bhoonidhi imagery and validate on a hand-labelled Indian eval set, reporting mIoU, F1 and VQA accuracy rather than demo screenshots.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as the designed fallback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detected → automatic switch to the SAR chain; missing modality → single-sensor path; model failure → classical thresholding. The system degrades, it does not break.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Tile-level inference and caching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models on the requested tiles only, cache in Redis, stream partial results — COG lets the browser fetch kilobytes instead of gigabytes.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Contract-first, integrate early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implements one typed interface behind a stub, so the end-to-end path runs in hour six and real models are swapped in one by one.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shown on screen</a:t>
            </a:r>
            <a:endParaRPr lang="en-US" sz="1050" dirty="0"/>
          </a:p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demo scene is pulled from Bhoonidhi or Copernicus with its product ID, sensor and acquisition date displayed beside the answer.</a:t>
            </a:r>
            <a:endParaRPr lang="en-US" sz="10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C5ACE72-4632-2487-5CBD-118054517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81174"/>
            <a:ext cx="861779" cy="861779"/>
          </a:xfrm>
          <a:prstGeom prst="flowChartConnector">
            <a:avLst/>
          </a:prstGeom>
        </p:spPr>
      </p:pic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DE3F659C-91EE-1176-8369-130915E74A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82296"/>
            <a:ext cx="181051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/>
          <p:cNvSpPr txBox="1"/>
          <p:nvPr/>
        </p:nvSpPr>
        <p:spPr>
          <a:xfrm>
            <a:off x="1600200" y="1463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B2E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3246120" y="1072781"/>
            <a:ext cx="5669280" cy="384048"/>
          </a:xfrm>
          <a:prstGeom prst="roundRect">
            <a:avLst>
              <a:gd name="adj" fmla="val 14286"/>
            </a:avLst>
          </a:prstGeom>
          <a:solidFill>
            <a:srgbClr val="C25708"/>
          </a:solidFill>
          <a:ln w="12700">
            <a:solidFill>
              <a:srgbClr val="C25708"/>
            </a:solidFill>
            <a:prstDash val="solid"/>
          </a:ln>
        </p:spPr>
        <p:txBody>
          <a:bodyPr/>
          <a:lstStyle/>
          <a:p>
            <a:endParaRPr lang="en-IN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1072781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 — WHO BENEFITS AND HOW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74320" y="1749437"/>
            <a:ext cx="2800350" cy="1298448"/>
          </a:xfrm>
          <a:prstGeom prst="roundRect">
            <a:avLst>
              <a:gd name="adj" fmla="val 2817"/>
            </a:avLst>
          </a:prstGeom>
          <a:solidFill>
            <a:srgbClr val="FCEFE2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" y="1822589"/>
            <a:ext cx="2580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ISRO / NRSC analysts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" y="2224925"/>
            <a:ext cx="25808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multi-tool GIS workflow into one sentence. Query the Bhoonidhi archive conversationally instead of scripting per-task pipelines.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20974" y="1749437"/>
            <a:ext cx="2800350" cy="1298448"/>
          </a:xfrm>
          <a:prstGeom prst="roundRect">
            <a:avLst>
              <a:gd name="adj" fmla="val 2817"/>
            </a:avLst>
          </a:prstGeom>
          <a:solidFill>
            <a:srgbClr val="FCEFE2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330702" y="1822589"/>
            <a:ext cx="2580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 (NDMA,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 cells)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30702" y="2224925"/>
            <a:ext cx="25808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extent from SAR through cloud, day or night — inundated area in km² within minutes of a pass, not hours.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67628" y="1749437"/>
            <a:ext cx="2800350" cy="1298448"/>
          </a:xfrm>
          <a:prstGeom prst="roundRect">
            <a:avLst>
              <a:gd name="adj" fmla="val 2817"/>
            </a:avLst>
          </a:prstGeom>
          <a:solidFill>
            <a:srgbClr val="FCEFE2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77356" y="1822589"/>
            <a:ext cx="2580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&amp; water resources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77356" y="2224925"/>
            <a:ext cx="25808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Crop-area and water-body change tracking for PMFBY assessment, reservoir monitoring and command-area planning.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14282" y="1749437"/>
            <a:ext cx="2800350" cy="1298448"/>
          </a:xfrm>
          <a:prstGeom prst="roundRect">
            <a:avLst>
              <a:gd name="adj" fmla="val 2817"/>
            </a:avLst>
          </a:prstGeom>
          <a:solidFill>
            <a:srgbClr val="FCEFE2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24010" y="1822589"/>
            <a:ext cx="2580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bodies &amp; forestry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224010" y="2224925"/>
            <a:ext cx="25808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growth quantified between two dates for AMRUT/Smart Cities master-plan review and forest-cover change reporting.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977640" y="3194189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06B48"/>
          </a:solidFill>
          <a:ln w="12700">
            <a:solidFill>
              <a:srgbClr val="106B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977640" y="3194189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SOLUTION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74320" y="3742829"/>
            <a:ext cx="2800350" cy="1353312"/>
          </a:xfrm>
          <a:prstGeom prst="roundRect">
            <a:avLst>
              <a:gd name="adj" fmla="val 2703"/>
            </a:avLst>
          </a:prstGeom>
          <a:solidFill>
            <a:srgbClr val="F1F4F7"/>
          </a:solidFill>
          <a:ln w="11430">
            <a:solidFill>
              <a:srgbClr val="106B4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84048" y="3815981"/>
            <a:ext cx="2580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" y="4126877"/>
            <a:ext cx="258089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Democratises satellite intelligence. A district officer or farmer-producer group gets an answer without learning remote sensing, widening who can act on ISRO data.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20974" y="3742829"/>
            <a:ext cx="2800350" cy="1353312"/>
          </a:xfrm>
          <a:prstGeom prst="roundRect">
            <a:avLst>
              <a:gd name="adj" fmla="val 2703"/>
            </a:avLst>
          </a:prstGeom>
          <a:solidFill>
            <a:srgbClr val="F1F4F7"/>
          </a:solidFill>
          <a:ln w="11430">
            <a:solidFill>
              <a:srgbClr val="0E6A8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330702" y="3815981"/>
            <a:ext cx="2580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330702" y="4126877"/>
            <a:ext cx="258089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recurring API cost on an open stack. Feeds a national EO market projected to reach roughly $8 bn of India's $44 bn space-economy target by 2033 (FICCI-EY, 2025).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167628" y="3742829"/>
            <a:ext cx="2800350" cy="1353312"/>
          </a:xfrm>
          <a:prstGeom prst="roundRect">
            <a:avLst>
              <a:gd name="adj" fmla="val 2703"/>
            </a:avLst>
          </a:prstGeom>
          <a:solidFill>
            <a:srgbClr val="F1F4F7"/>
          </a:solidFill>
          <a:ln w="11430">
            <a:solidFill>
              <a:srgbClr val="0B2E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277356" y="3815981"/>
            <a:ext cx="2580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77356" y="4126877"/>
            <a:ext cx="258089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detection of deforestation, encroachment on water bodies, and unplanned urban sprawl — with measured extents that stand up in a review.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114282" y="3742829"/>
            <a:ext cx="2800350" cy="1353312"/>
          </a:xfrm>
          <a:prstGeom prst="roundRect">
            <a:avLst>
              <a:gd name="adj" fmla="val 2703"/>
            </a:avLst>
          </a:prstGeom>
          <a:solidFill>
            <a:srgbClr val="F1F4F7"/>
          </a:solidFill>
          <a:ln w="11430">
            <a:solidFill>
              <a:srgbClr val="5B3E8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224010" y="3815981"/>
            <a:ext cx="2580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9224010" y="4126877"/>
            <a:ext cx="258089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Indigenous, air-gapped capability on Indian sensors (NISAR, EOS-04, Resourcesat). Supports Atmanirbhar Bharat and the Indian Space Policy 2023.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274320" y="5242445"/>
            <a:ext cx="11640312" cy="1261872"/>
          </a:xfrm>
          <a:prstGeom prst="roundRect">
            <a:avLst>
              <a:gd name="adj" fmla="val 2899"/>
            </a:avLst>
          </a:prstGeom>
          <a:solidFill>
            <a:srgbClr val="E9F0F7"/>
          </a:solidFill>
          <a:ln w="11430">
            <a:solidFill>
              <a:srgbClr val="0B2E5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56616" y="5288165"/>
            <a:ext cx="11475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Measure That It Actually Works — After Deployment, Not Just At Demo Time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420624" y="5571629"/>
            <a:ext cx="27271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Time-to-answer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420624" y="5791085"/>
            <a:ext cx="27271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from query to verified map layer, against the current multi-tool GIS baseline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3294126" y="5571629"/>
            <a:ext cx="27271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 reference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294126" y="5791085"/>
            <a:ext cx="27271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mIoU / F1 on change and segmentation masks; area error against reference masks where available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6167628" y="5571629"/>
            <a:ext cx="27271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independence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167628" y="5791085"/>
            <a:ext cx="27271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queries resolved with no remote-sensing specialist in the loop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9041130" y="5571629"/>
            <a:ext cx="27271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uptake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041130" y="5791085"/>
            <a:ext cx="27271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per week per department and repeat usage after the pilot period ends</a:t>
            </a:r>
            <a:endParaRPr lang="en-US" sz="105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76DE061D-DDA6-4210-CE2E-045874365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81174"/>
            <a:ext cx="861779" cy="861779"/>
          </a:xfrm>
          <a:prstGeom prst="flowChartConnector">
            <a:avLst/>
          </a:prstGeom>
        </p:spPr>
      </p:pic>
      <p:pic>
        <p:nvPicPr>
          <p:cNvPr id="50" name="Image 0" descr="preencoded.png">
            <a:extLst>
              <a:ext uri="{FF2B5EF4-FFF2-40B4-BE49-F238E27FC236}">
                <a16:creationId xmlns:a16="http://schemas.microsoft.com/office/drawing/2014/main" id="{A82383B3-AB56-D806-4FEE-B525C4B65C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82296"/>
            <a:ext cx="181051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340084" y="6575571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463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B2E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75844" y="1144035"/>
            <a:ext cx="3776472" cy="2578608"/>
          </a:xfrm>
          <a:prstGeom prst="roundRect">
            <a:avLst>
              <a:gd name="adj" fmla="val 1418"/>
            </a:avLst>
          </a:prstGeom>
          <a:solidFill>
            <a:srgbClr val="E9F0F7"/>
          </a:solidFill>
          <a:ln w="11430">
            <a:solidFill>
              <a:srgbClr val="0B2E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8140" y="118975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ISRO / Government Data &amp; Policy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22148" y="1454931"/>
            <a:ext cx="348386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Bhoonidhi — ISRO EO Data Hub (NRSC): bhoonidhi.nrsc.gov.in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NISAR S-SAR product release, Bhoonidhi: bhoonidhi.nrsc.gov.in/NISAR/NisarProducts.html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NISAR Data User Guide (ASF DAAC): nisar-docs.asf.alaska.edu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Bhuvan Geoportal — WMS/WMTS thematic services: bhuvan.nrsc.gov.in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MOSDAC (SAC) data download API: mosdac.gov.in · VEDAS vAPI: vedas.sac.gov.in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Space Policy 2023 · National Geospatial Policy 2022 · IN-SPACe: inspace.gov.in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5844" y="3832371"/>
            <a:ext cx="3776472" cy="2587752"/>
          </a:xfrm>
          <a:prstGeom prst="roundRect">
            <a:avLst>
              <a:gd name="adj" fmla="val 1413"/>
            </a:avLst>
          </a:prstGeom>
          <a:solidFill>
            <a:srgbClr val="F1F4F7"/>
          </a:solidFill>
          <a:ln w="11430">
            <a:solidFill>
              <a:srgbClr val="5B3E8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8140" y="38780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&amp; Benchmarks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22148" y="4143267"/>
            <a:ext cx="3483864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RSVQA — visual question answering for remote sensing (arXiv:2003.07333)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CDVQA — change-detection VQA (arXiv:2112.06343); CDQAG/VisTA (arXiv:2410.23828)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RRSIS-D &amp; RefSegRS — referring RS image segmentation (arXiv:2312.12470, 2306.08625)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LEVIR-CD / LEVIR-CC — change detection &amp; change captioning: justchenhao.github.io/LEVIR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SEN12MS — Sentinel-1 SAR + Sentinel-2 optical fusion corpus (arXiv:1906.07789)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DIOR-RSVG — visual grounding · RSICD, NWPU-Captions — RS captioning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07764" y="1144035"/>
            <a:ext cx="3776472" cy="2578608"/>
          </a:xfrm>
          <a:prstGeom prst="roundRect">
            <a:avLst>
              <a:gd name="adj" fmla="val 1418"/>
            </a:avLst>
          </a:prstGeom>
          <a:solidFill>
            <a:srgbClr val="E6F3EC"/>
          </a:solidFill>
          <a:ln w="11430">
            <a:solidFill>
              <a:srgbClr val="106B4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0060" y="118975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Vision-Language &amp; Foundation Models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354068" y="1454931"/>
            <a:ext cx="348386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Kuckreja et al., “GeoChat: Grounded Large Vision-Language Model for Remote Sensing”, CVPR 2024 (arXiv:2311.15826)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 et al., “EarthMind: Leveraging Cross-Sensor Data … Unified Multimodal LLM”, 2025 (arXiv:2506.01667) — optical + SAR fusion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al., “RemoteCLIP: A Vision Language Foundation Model for Remote Sensing”, IEEE TGRS 2024 (arXiv:2306.11029)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Szwarcman et al., “Prithvi-EO-2.0: A Versatile Multi-Temporal Foundation Model for Earth Observation” (arXiv:2412.02732)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al., “RS5M and GeoRSCLIP: A Large-Scale Vision-Language Dataset and Model for Remote Sensing”, IEEE TGRS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207764" y="3832371"/>
            <a:ext cx="3776472" cy="2587752"/>
          </a:xfrm>
          <a:prstGeom prst="roundRect">
            <a:avLst>
              <a:gd name="adj" fmla="val 1413"/>
            </a:avLst>
          </a:prstGeom>
          <a:solidFill>
            <a:srgbClr val="FCEFE2"/>
          </a:solidFill>
          <a:ln w="11430">
            <a:solidFill>
              <a:srgbClr val="C2570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90060" y="38780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5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Detection, Segmentation &amp; SAR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354068" y="4143267"/>
            <a:ext cx="3483864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et al., “Segment Any Change” (AnyChange), NeurIPS 2024 (arXiv:2402.01188)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Fang et al., “Changer: Feature Interaction is What You Need for Change Detection” (arXiv:2209.08290)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al., “Rotated Multi-Scale Interaction Network for Referring RS Image Segmentation” (RMSIN), CVPR 2024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 &amp; Ghamisi, “Changes to Captions: An Attentive Network for RS Change Captioning” (Chg2Cap, arXiv:2304.01091)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multi-resolution SAR–optical image registration methods (arXiv:2502.01002)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39684" y="1144035"/>
            <a:ext cx="3776472" cy="2578608"/>
          </a:xfrm>
          <a:prstGeom prst="roundRect">
            <a:avLst>
              <a:gd name="adj" fmla="val 1418"/>
            </a:avLst>
          </a:prstGeom>
          <a:solidFill>
            <a:srgbClr val="EFEAF7"/>
          </a:solidFill>
          <a:ln w="11430">
            <a:solidFill>
              <a:srgbClr val="5B3E8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1980" y="118975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5B3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Orchestration for Geospatial AI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85988" y="1454931"/>
            <a:ext cx="348386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al., “RS-Agent: Automating Remote Sensing Tasks through Intelligent Agents” (arXiv:2406.07089)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al., “Change-Agent: Towards Interactive Comprehensive Remote Sensing Change Interpretation and Analysis”, IEEE TGRS 2024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et al., “Remote Sensing ChatGPT: Solving Remote Sensing Tasks with ChatGPT and Visual Models”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 et al., “GeoBench-VLM: Benchmarking Vision-Language Models for Geospatial Tasks” (arXiv:2411.19325)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documentation — stateful multi-actor agent graphs: langchain.com/langgraph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139684" y="3832371"/>
            <a:ext cx="3776472" cy="2587752"/>
          </a:xfrm>
          <a:prstGeom prst="roundRect">
            <a:avLst>
              <a:gd name="adj" fmla="val 1413"/>
            </a:avLst>
          </a:prstGeom>
          <a:solidFill>
            <a:srgbClr val="F1F4F7"/>
          </a:solidFill>
          <a:ln w="11430">
            <a:solidFill>
              <a:srgbClr val="0E6A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1980" y="38780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Stack &amp; Market Context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85988" y="4143267"/>
            <a:ext cx="3483864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Cloud-Optimized GeoTIFF specification: cogeo.org · STAC specification: stacspec.org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TiTiler — dynamic COG tile server (Development Seed): developmentseed.org/titiler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Data Space Ecosystem APIs: documentation.dataspace.copernicus.eu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· GDAL/rasterio · ESA SNAP &amp; pyroSAR — SAR preprocessing toolchain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FICCI-EY, “Unlocking India's Space Economy”, March 2025: ficci.in/press_release_details/5033</a:t>
            </a:r>
            <a:endParaRPr lang="en-US" sz="1050" dirty="0"/>
          </a:p>
          <a:p>
            <a:pPr marL="342900" indent="-342900">
              <a:lnSpc>
                <a:spcPts val="11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World, “Geospatial Artha” Report 2021 — Indian geospatial economy sizing</a:t>
            </a:r>
            <a:endParaRPr lang="en-US" sz="10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1422A54-D179-5050-5CEB-3430DA632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81174"/>
            <a:ext cx="861779" cy="861779"/>
          </a:xfrm>
          <a:prstGeom prst="flowChartConnector">
            <a:avLst/>
          </a:prstGeom>
        </p:spPr>
      </p:pic>
      <p:pic>
        <p:nvPicPr>
          <p:cNvPr id="30" name="Image 0" descr="preencoded.png">
            <a:extLst>
              <a:ext uri="{FF2B5EF4-FFF2-40B4-BE49-F238E27FC236}">
                <a16:creationId xmlns:a16="http://schemas.microsoft.com/office/drawing/2014/main" id="{1DDDA997-D466-2C0D-3FDB-D9A315E05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82296"/>
            <a:ext cx="1810512" cy="859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2723</Words>
  <Application>Microsoft Office PowerPoint</Application>
  <PresentationFormat>Widescreen</PresentationFormat>
  <Paragraphs>243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SatQuery AI - SIH26167</dc:title>
  <dc:subject>PptxGenJS Presentation</dc:subject>
  <dc:creator>SIH 2026</dc:creator>
  <cp:lastModifiedBy>Abinash S</cp:lastModifiedBy>
  <cp:revision>12</cp:revision>
  <dcterms:created xsi:type="dcterms:W3CDTF">2026-08-29T14:06:25Z</dcterms:created>
  <dcterms:modified xsi:type="dcterms:W3CDTF">2026-09-05T08:14:21Z</dcterms:modified>
</cp:coreProperties>
</file>